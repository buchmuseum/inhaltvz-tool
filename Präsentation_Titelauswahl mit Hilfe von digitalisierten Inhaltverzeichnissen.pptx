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5" r:id="rId12"/>
    <p:sldId id="266" r:id="rId13"/>
    <p:sldId id="267" r:id="rId14"/>
    <p:sldId id="268" r:id="rId15"/>
    <p:sldId id="269" r:id="rId16"/>
    <p:sldId id="289" r:id="rId17"/>
    <p:sldId id="270" r:id="rId18"/>
    <p:sldId id="286" r:id="rId19"/>
    <p:sldId id="290" r:id="rId20"/>
    <p:sldId id="287" r:id="rId21"/>
    <p:sldId id="273" r:id="rId22"/>
    <p:sldId id="274" r:id="rId23"/>
    <p:sldId id="275" r:id="rId24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>
      <p:cViewPr varScale="1">
        <p:scale>
          <a:sx n="114" d="100"/>
          <a:sy n="114" d="100"/>
        </p:scale>
        <p:origin x="17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6B60990-A456-4E15-8235-A772450F9E9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579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dnb_DBuSM_RG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25" y="404813"/>
            <a:ext cx="1939925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27088" y="3343275"/>
            <a:ext cx="7593012" cy="1295400"/>
          </a:xfrm>
        </p:spPr>
        <p:txBody>
          <a:bodyPr/>
          <a:lstStyle>
            <a:lvl1pPr>
              <a:lnSpc>
                <a:spcPts val="3600"/>
              </a:lnSpc>
              <a:defRPr sz="3200" b="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27088" y="2914650"/>
            <a:ext cx="7593012" cy="385763"/>
          </a:xfrm>
        </p:spPr>
        <p:txBody>
          <a:bodyPr/>
          <a:lstStyle>
            <a:lvl1pPr marL="0" indent="0">
              <a:buFont typeface="Verdana" pitchFamily="34" charset="0"/>
              <a:buNone/>
              <a:defRPr sz="2000"/>
            </a:lvl1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27088" y="1619250"/>
            <a:ext cx="7593012" cy="777875"/>
          </a:xfrm>
        </p:spPr>
        <p:txBody>
          <a:bodyPr/>
          <a:lstStyle>
            <a:lvl1pPr>
              <a:lnSpc>
                <a:spcPts val="3000"/>
              </a:lnSpc>
              <a:defRPr b="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27088" y="2422800"/>
            <a:ext cx="7593012" cy="3697200"/>
          </a:xfrm>
        </p:spPr>
        <p:txBody>
          <a:bodyPr/>
          <a:lstStyle>
            <a:lvl1pPr>
              <a:lnSpc>
                <a:spcPts val="3000"/>
              </a:lnSpc>
              <a:spcBef>
                <a:spcPts val="1680"/>
              </a:spcBef>
              <a:defRPr sz="2600" b="1"/>
            </a:lvl1pPr>
            <a:lvl2pPr marL="1076325" indent="-452438">
              <a:lnSpc>
                <a:spcPts val="2400"/>
              </a:lnSpc>
              <a:spcBef>
                <a:spcPts val="300"/>
              </a:spcBef>
              <a:defRPr sz="2000"/>
            </a:lvl2pPr>
            <a:lvl3pPr marL="1341438" indent="-265113">
              <a:lnSpc>
                <a:spcPts val="2400"/>
              </a:lnSpc>
              <a:spcBef>
                <a:spcPts val="300"/>
              </a:spcBef>
              <a:defRPr sz="2000"/>
            </a:lvl3pPr>
            <a:lvl4pPr marL="1600200" indent="-258763">
              <a:lnSpc>
                <a:spcPts val="2400"/>
              </a:lnSpc>
              <a:spcBef>
                <a:spcPts val="300"/>
              </a:spcBef>
              <a:defRPr sz="2000"/>
            </a:lvl4pPr>
            <a:lvl5pPr marL="1879600" indent="-265113">
              <a:lnSpc>
                <a:spcPts val="2400"/>
              </a:lnSpc>
              <a:spcBef>
                <a:spcPts val="300"/>
              </a:spcBef>
              <a:defRPr sz="20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0"/>
          </p:nvPr>
        </p:nvSpPr>
        <p:spPr>
          <a:xfrm>
            <a:off x="514350" y="6384925"/>
            <a:ext cx="7874000" cy="1524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68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und zw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2698750"/>
            <a:ext cx="3719512" cy="341788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lnSpc>
                <a:spcPts val="2000"/>
              </a:lnSpc>
              <a:spcBef>
                <a:spcPts val="300"/>
              </a:spcBef>
              <a:defRPr sz="1600"/>
            </a:lvl2pPr>
            <a:lvl3pPr>
              <a:lnSpc>
                <a:spcPts val="2000"/>
              </a:lnSpc>
              <a:spcBef>
                <a:spcPts val="300"/>
              </a:spcBef>
              <a:defRPr sz="1600"/>
            </a:lvl3pPr>
            <a:lvl4pPr>
              <a:lnSpc>
                <a:spcPts val="2000"/>
              </a:lnSpc>
              <a:spcBef>
                <a:spcPts val="300"/>
              </a:spcBef>
              <a:defRPr sz="1600"/>
            </a:lvl4pPr>
            <a:lvl5pPr>
              <a:lnSpc>
                <a:spcPts val="2000"/>
              </a:lnSpc>
              <a:spcBef>
                <a:spcPts val="3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9000" y="2698750"/>
            <a:ext cx="3721100" cy="3417888"/>
          </a:xfrm>
        </p:spPr>
        <p:txBody>
          <a:bodyPr/>
          <a:lstStyle>
            <a:lvl1pPr>
              <a:spcBef>
                <a:spcPts val="1200"/>
              </a:spcBef>
              <a:defRPr lang="de-DE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2000"/>
              </a:lnSpc>
              <a:spcBef>
                <a:spcPts val="300"/>
              </a:spcBef>
              <a:defRPr sz="1600"/>
            </a:lvl2pPr>
            <a:lvl3pPr>
              <a:lnSpc>
                <a:spcPts val="2000"/>
              </a:lnSpc>
              <a:spcBef>
                <a:spcPts val="300"/>
              </a:spcBef>
              <a:defRPr sz="1600"/>
            </a:lvl3pPr>
            <a:lvl4pPr>
              <a:lnSpc>
                <a:spcPts val="2000"/>
              </a:lnSpc>
              <a:spcBef>
                <a:spcPts val="300"/>
              </a:spcBef>
              <a:defRPr sz="1600"/>
            </a:lvl4pPr>
            <a:lvl5pPr>
              <a:lnSpc>
                <a:spcPts val="2000"/>
              </a:lnSpc>
              <a:spcBef>
                <a:spcPts val="3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_mit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23     | Titelauswahl mit Hilfe von Inhaltsverzeichnissen| 13. August 2026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3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827088" y="2698750"/>
            <a:ext cx="7593012" cy="3417888"/>
          </a:xfrm>
        </p:spPr>
        <p:txBody>
          <a:bodyPr/>
          <a:lstStyle>
            <a:lvl1pPr>
              <a:spcBef>
                <a:spcPts val="1680"/>
              </a:spcBef>
              <a:buNone/>
              <a:defRPr/>
            </a:lvl1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und zwei Ob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2698750"/>
            <a:ext cx="3719512" cy="3417888"/>
          </a:xfrm>
        </p:spPr>
        <p:txBody>
          <a:bodyPr/>
          <a:lstStyle>
            <a:lvl1pPr>
              <a:spcBef>
                <a:spcPts val="1200"/>
              </a:spcBef>
              <a:buNone/>
              <a:defRPr sz="20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9000" y="2698750"/>
            <a:ext cx="3721100" cy="3417888"/>
          </a:xfrm>
        </p:spPr>
        <p:txBody>
          <a:bodyPr/>
          <a:lstStyle>
            <a:lvl1pPr>
              <a:spcBef>
                <a:spcPts val="1200"/>
              </a:spcBef>
              <a:buNone/>
              <a:defRPr sz="20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dnb_DBuSM_RGB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25" y="404813"/>
            <a:ext cx="1939925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827088" y="1619250"/>
            <a:ext cx="7593012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2698750"/>
            <a:ext cx="7593012" cy="341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4350" y="6384925"/>
            <a:ext cx="78740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de-DE" smtClean="0"/>
              <a:t>| 23     | Titelauswahl mit Hilfe von Inhaltsverzeichnissen| 13. August 2026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35" r:id="rId3"/>
    <p:sldLayoutId id="2147483736" r:id="rId4"/>
    <p:sldLayoutId id="2147483737" r:id="rId5"/>
    <p:sldLayoutId id="2147483738" r:id="rId6"/>
    <p:sldLayoutId id="2147483744" r:id="rId7"/>
    <p:sldLayoutId id="2147483739" r:id="rId8"/>
    <p:sldLayoutId id="2147483740" r:id="rId9"/>
  </p:sldLayoutIdLst>
  <p:hf sldNum="0" hdr="0" dt="0"/>
  <p:txStyles>
    <p:titleStyle>
      <a:lvl1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70000"/>
        </a:spcBef>
        <a:spcAft>
          <a:spcPct val="0"/>
        </a:spcAft>
        <a:buFont typeface="Verdana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chmuseum/InhaltVZ-Tool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46C4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EBFEB206-4A3F-4696-935B-82AB82FC11DA}" type="slidenum">
              <a:rPr lang="de-DE" sz="1000" b="1"/>
              <a:pPr algn="ctr"/>
              <a:t>1</a:t>
            </a:fld>
            <a:endParaRPr lang="de-DE" sz="1000" b="1"/>
          </a:p>
        </p:txBody>
      </p:sp>
      <p:sp>
        <p:nvSpPr>
          <p:cNvPr id="3076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cap="all" dirty="0"/>
              <a:t>Titelauswahl mit Hilfe von digitalisierten Inhaltverzeichnissen</a:t>
            </a:r>
            <a:br>
              <a:rPr lang="de-DE" b="1" cap="all" dirty="0"/>
            </a:br>
            <a:endParaRPr lang="de-DE" dirty="0" smtClean="0"/>
          </a:p>
        </p:txBody>
      </p:sp>
      <p:sp>
        <p:nvSpPr>
          <p:cNvPr id="3077" name="Rectangle 11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de-DE" dirty="0" smtClean="0"/>
              <a:t>Isabell Sickert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de-DE" b="0" dirty="0" smtClean="0"/>
              <a:t>Inhaltsverzeichnis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542925" indent="-542925" eaLnBrk="1" hangingPunct="1">
              <a:spcBef>
                <a:spcPts val="900"/>
              </a:spcBef>
              <a:buFont typeface="Verdana" pitchFamily="34" charset="0"/>
              <a:buAutoNum type="arabicPeriod"/>
            </a:pPr>
            <a:r>
              <a:rPr lang="de-DE" sz="2400" b="1" dirty="0" smtClean="0"/>
              <a:t>Ausgangssituation</a:t>
            </a:r>
          </a:p>
          <a:p>
            <a:pPr marL="1171575" lvl="1" indent="-449263" eaLnBrk="1" hangingPunct="1">
              <a:spcBef>
                <a:spcPts val="600"/>
              </a:spcBef>
              <a:buFont typeface="Verdana" pitchFamily="34" charset="0"/>
              <a:buAutoNum type="arabicPeriod"/>
            </a:pPr>
            <a:r>
              <a:rPr lang="de-DE" sz="1600" b="1" dirty="0" smtClean="0"/>
              <a:t>Warum haben wir uns mit dem Thema beschäftigt?</a:t>
            </a:r>
          </a:p>
          <a:p>
            <a:pPr marL="1171575" lvl="1" indent="-449263" eaLnBrk="1" hangingPunct="1">
              <a:spcBef>
                <a:spcPts val="600"/>
              </a:spcBef>
              <a:buFont typeface="Verdana" pitchFamily="34" charset="0"/>
              <a:buAutoNum type="arabicPeriod"/>
            </a:pPr>
            <a:r>
              <a:rPr lang="de-DE" sz="1600" b="1" dirty="0" smtClean="0"/>
              <a:t>Warum haben wir uns für die Inhaltsverzeichnisse entschieden?</a:t>
            </a:r>
          </a:p>
          <a:p>
            <a:pPr marL="542925" indent="-542925" eaLnBrk="1" hangingPunct="1">
              <a:spcBef>
                <a:spcPts val="900"/>
              </a:spcBef>
              <a:buFont typeface="Verdana" pitchFamily="34" charset="0"/>
              <a:buAutoNum type="arabicPeriod"/>
            </a:pPr>
            <a:r>
              <a:rPr lang="de-DE" sz="2400" dirty="0" smtClean="0"/>
              <a:t>Arbeitsprozess</a:t>
            </a:r>
          </a:p>
          <a:p>
            <a:pPr marL="1171575" lvl="1" indent="-449263">
              <a:spcBef>
                <a:spcPts val="600"/>
              </a:spcBef>
              <a:buFont typeface="Verdana" pitchFamily="34" charset="0"/>
              <a:buAutoNum type="arabicPeriod"/>
            </a:pPr>
            <a:r>
              <a:rPr lang="de-DE" sz="1600" b="1" dirty="0" smtClean="0"/>
              <a:t>Gewichtung der Stichworte</a:t>
            </a:r>
            <a:endParaRPr lang="de-DE" sz="1600" b="1" dirty="0"/>
          </a:p>
          <a:p>
            <a:pPr marL="1171575" lvl="1" indent="-449263">
              <a:spcBef>
                <a:spcPts val="600"/>
              </a:spcBef>
              <a:buFont typeface="Verdana" pitchFamily="34" charset="0"/>
              <a:buAutoNum type="arabicPeriod"/>
            </a:pPr>
            <a:r>
              <a:rPr lang="de-DE" sz="1600" b="1" dirty="0" smtClean="0"/>
              <a:t>Auswertung der ersten Ergebnismengen</a:t>
            </a:r>
          </a:p>
          <a:p>
            <a:pPr marL="1171575" lvl="1" indent="-449263">
              <a:spcBef>
                <a:spcPts val="600"/>
              </a:spcBef>
              <a:buFont typeface="Verdana" pitchFamily="34" charset="0"/>
              <a:buAutoNum type="arabicPeriod"/>
            </a:pPr>
            <a:r>
              <a:rPr lang="de-DE" sz="1600" b="1" dirty="0" smtClean="0"/>
              <a:t>Einbindung von KI zur Unterstützung</a:t>
            </a:r>
            <a:endParaRPr lang="de-DE" b="1" dirty="0"/>
          </a:p>
          <a:p>
            <a:pPr marL="542925" indent="-542925">
              <a:spcBef>
                <a:spcPts val="900"/>
              </a:spcBef>
              <a:buFont typeface="Verdana" pitchFamily="34" charset="0"/>
              <a:buAutoNum type="arabicPeriod"/>
            </a:pPr>
            <a:r>
              <a:rPr lang="de-DE" sz="2400" dirty="0" err="1" smtClean="0"/>
              <a:t>InhaltsVZ</a:t>
            </a:r>
            <a:r>
              <a:rPr lang="de-DE" sz="2400" dirty="0" smtClean="0"/>
              <a:t>-Tool</a:t>
            </a:r>
            <a:endParaRPr lang="de-DE" sz="2400" dirty="0"/>
          </a:p>
          <a:p>
            <a:pPr marL="722312" lvl="1" indent="0">
              <a:spcBef>
                <a:spcPts val="600"/>
              </a:spcBef>
              <a:buNone/>
            </a:pPr>
            <a:endParaRPr lang="de-DE" sz="1600" b="1" dirty="0" smtClean="0"/>
          </a:p>
        </p:txBody>
      </p:sp>
      <p:sp>
        <p:nvSpPr>
          <p:cNvPr id="4098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C9B14742-FF91-4173-BD01-398BF8230A4C}" type="slidenum">
              <a:rPr lang="de-DE" sz="1000" b="1"/>
              <a:pPr algn="ctr"/>
              <a:t>2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1.Ausgangssituation</a:t>
            </a:r>
            <a:r>
              <a:rPr lang="de-DE" sz="2800" dirty="0"/>
              <a:t/>
            </a:r>
            <a:br>
              <a:rPr lang="de-DE" sz="2800" dirty="0"/>
            </a:b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Deutsche Buch- und Schriftmuseum (DBSM) sammelt neben musealen Objekten </a:t>
            </a:r>
            <a:r>
              <a:rPr lang="de-DE" dirty="0" smtClean="0"/>
              <a:t>für die </a:t>
            </a:r>
            <a:r>
              <a:rPr lang="de-DE" b="1" dirty="0" smtClean="0"/>
              <a:t>Studiensammlungen </a:t>
            </a:r>
            <a:r>
              <a:rPr lang="de-DE" dirty="0" smtClean="0"/>
              <a:t>auch internationale Publikationen </a:t>
            </a:r>
            <a:r>
              <a:rPr lang="de-DE" dirty="0"/>
              <a:t>für die </a:t>
            </a:r>
            <a:r>
              <a:rPr lang="de-DE" b="1" dirty="0" smtClean="0"/>
              <a:t>Fachbibliothek</a:t>
            </a:r>
            <a:r>
              <a:rPr lang="de-DE" dirty="0" smtClean="0"/>
              <a:t>.</a:t>
            </a:r>
            <a:endParaRPr lang="de-DE" dirty="0"/>
          </a:p>
          <a:p>
            <a:r>
              <a:rPr lang="de-DE" dirty="0"/>
              <a:t>Über die </a:t>
            </a:r>
            <a:r>
              <a:rPr lang="de-DE" b="1" dirty="0"/>
              <a:t>Pflichtablieferung</a:t>
            </a:r>
            <a:r>
              <a:rPr lang="de-DE" dirty="0"/>
              <a:t> </a:t>
            </a:r>
            <a:r>
              <a:rPr lang="de-DE" dirty="0" smtClean="0"/>
              <a:t>verschaffte </a:t>
            </a:r>
            <a:r>
              <a:rPr lang="de-DE" dirty="0"/>
              <a:t>sich das DBSM einen Überblick über relevante </a:t>
            </a:r>
            <a:r>
              <a:rPr lang="de-DE" dirty="0" smtClean="0"/>
              <a:t>deutschsprachige Neuerscheinungen </a:t>
            </a:r>
            <a:r>
              <a:rPr lang="de-DE" dirty="0"/>
              <a:t>und </a:t>
            </a:r>
            <a:r>
              <a:rPr lang="de-DE" dirty="0" smtClean="0"/>
              <a:t>traf </a:t>
            </a:r>
            <a:r>
              <a:rPr lang="de-DE" dirty="0"/>
              <a:t>daraus eine </a:t>
            </a:r>
            <a:r>
              <a:rPr lang="de-DE" dirty="0" smtClean="0"/>
              <a:t>Auswahl.</a:t>
            </a:r>
            <a:endParaRPr lang="de-DE" dirty="0"/>
          </a:p>
          <a:p>
            <a:r>
              <a:rPr lang="de-DE" dirty="0"/>
              <a:t>Die Auswahl erfolgte dabei bislang </a:t>
            </a:r>
            <a:r>
              <a:rPr lang="de-DE" b="1" dirty="0"/>
              <a:t>physisch anhand der eingegangenen Publikationen</a:t>
            </a:r>
            <a:r>
              <a:rPr lang="de-DE" dirty="0"/>
              <a:t>.</a:t>
            </a:r>
          </a:p>
        </p:txBody>
      </p:sp>
      <p:sp>
        <p:nvSpPr>
          <p:cNvPr id="5122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41DD5E45-7A98-4147-A7E0-A8DC2A41740A}" type="slidenum">
              <a:rPr lang="de-DE" sz="1000" b="1"/>
              <a:pPr algn="ctr"/>
              <a:t>3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2800" dirty="0" smtClean="0"/>
              <a:t>1.1</a:t>
            </a:r>
            <a:r>
              <a:rPr lang="de-DE" dirty="0" smtClean="0"/>
              <a:t> </a:t>
            </a:r>
            <a:r>
              <a:rPr lang="de-DE" sz="2800" dirty="0"/>
              <a:t>Warum haben wir uns </a:t>
            </a:r>
            <a:r>
              <a:rPr lang="de-DE" sz="2800" dirty="0" smtClean="0"/>
              <a:t>mit dem Thema beschäftigt</a:t>
            </a:r>
            <a:r>
              <a:rPr lang="de-DE" sz="2800" dirty="0"/>
              <a:t>?</a:t>
            </a:r>
            <a:r>
              <a:rPr lang="de-DE" sz="1600" dirty="0"/>
              <a:t/>
            </a:r>
            <a:br>
              <a:rPr lang="de-DE" sz="1600" dirty="0"/>
            </a:br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Hoher personeller Aufwand durch die physische Sichtung und Auswahl der </a:t>
            </a:r>
            <a:r>
              <a:rPr lang="de-DE" dirty="0" smtClean="0"/>
              <a:t>Publikationen </a:t>
            </a:r>
          </a:p>
          <a:p>
            <a:r>
              <a:rPr lang="de-DE" dirty="0" smtClean="0"/>
              <a:t>Entscheidung des DBSM, die </a:t>
            </a:r>
            <a:r>
              <a:rPr lang="de-DE" dirty="0"/>
              <a:t>ausgewählten Werke </a:t>
            </a:r>
            <a:r>
              <a:rPr lang="de-DE" dirty="0" smtClean="0"/>
              <a:t>nicht </a:t>
            </a:r>
            <a:r>
              <a:rPr lang="de-DE" dirty="0"/>
              <a:t>mehr physisch in den Magazinen des DBSM </a:t>
            </a:r>
            <a:r>
              <a:rPr lang="de-DE" dirty="0" smtClean="0"/>
              <a:t>aufzustellen (Ressourcenersparnis!)</a:t>
            </a:r>
          </a:p>
          <a:p>
            <a:r>
              <a:rPr lang="de-DE" dirty="0" smtClean="0"/>
              <a:t>Stattdessen </a:t>
            </a:r>
            <a:r>
              <a:rPr lang="de-DE" dirty="0"/>
              <a:t>sollte eine virtuelle Verknüpfung </a:t>
            </a:r>
            <a:r>
              <a:rPr lang="de-DE" dirty="0" smtClean="0"/>
              <a:t>geeigneter Publikationen mit </a:t>
            </a:r>
            <a:r>
              <a:rPr lang="de-DE" dirty="0"/>
              <a:t>der Fachbibliothek </a:t>
            </a:r>
            <a:r>
              <a:rPr lang="de-DE" dirty="0" smtClean="0"/>
              <a:t>des DBSM hergestellt </a:t>
            </a:r>
            <a:r>
              <a:rPr lang="de-DE" dirty="0"/>
              <a:t>werden</a:t>
            </a:r>
          </a:p>
        </p:txBody>
      </p:sp>
      <p:sp>
        <p:nvSpPr>
          <p:cNvPr id="614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409DEF66-784C-4ABA-A954-EA29E77B5B61}" type="slidenum">
              <a:rPr lang="de-DE" sz="1000" b="1"/>
              <a:pPr algn="ctr"/>
              <a:t>4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2800" dirty="0" smtClean="0"/>
              <a:t>1.2 </a:t>
            </a:r>
            <a:r>
              <a:rPr lang="de-DE" sz="2800" dirty="0"/>
              <a:t>Warum haben wir uns für die Inhaltsverzeichnisse </a:t>
            </a:r>
            <a:r>
              <a:rPr lang="de-DE" sz="2800" dirty="0" smtClean="0"/>
              <a:t>entschieden?</a:t>
            </a:r>
            <a:r>
              <a:rPr lang="de-DE" sz="1600" dirty="0"/>
              <a:t/>
            </a:r>
            <a:br>
              <a:rPr lang="de-DE" sz="1600" dirty="0"/>
            </a:b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Die Auswahl der potenziell relevanten Publikationen soll künftig auf Grundlage </a:t>
            </a:r>
            <a:r>
              <a:rPr lang="de-DE" dirty="0" smtClean="0"/>
              <a:t>von </a:t>
            </a:r>
            <a:r>
              <a:rPr lang="de-DE" dirty="0"/>
              <a:t>vorhandenen Metadaten </a:t>
            </a:r>
            <a:r>
              <a:rPr lang="de-DE" dirty="0" smtClean="0"/>
              <a:t>erfolgen</a:t>
            </a:r>
          </a:p>
          <a:p>
            <a:pPr lvl="1"/>
            <a:r>
              <a:rPr lang="de-DE" dirty="0" smtClean="0"/>
              <a:t>Das </a:t>
            </a:r>
            <a:r>
              <a:rPr lang="de-DE" dirty="0"/>
              <a:t>Inhaltsverzeichnis bietet dabei die besten Anhaltspunkte, um thematisch relevante Publikationen zu </a:t>
            </a:r>
            <a:r>
              <a:rPr lang="de-DE" dirty="0" smtClean="0"/>
              <a:t>identifizieren.</a:t>
            </a:r>
          </a:p>
          <a:p>
            <a:pPr lvl="1"/>
            <a:r>
              <a:rPr lang="de-DE" dirty="0" smtClean="0"/>
              <a:t>Andere </a:t>
            </a:r>
            <a:r>
              <a:rPr lang="de-DE" dirty="0"/>
              <a:t>Metadaten wie Titel oder Verlag sind für eine gezielte Auswahl häufig zu </a:t>
            </a:r>
            <a:r>
              <a:rPr lang="de-DE" dirty="0" smtClean="0"/>
              <a:t>ungenau.</a:t>
            </a:r>
          </a:p>
          <a:p>
            <a:pPr lvl="1"/>
            <a:r>
              <a:rPr lang="de-DE" dirty="0" smtClean="0"/>
              <a:t>Eine </a:t>
            </a:r>
            <a:r>
              <a:rPr lang="de-DE" dirty="0"/>
              <a:t>Auswahl anhand der DDC wäre mit einem hohen manuellen Aufwand verbunden und ermöglicht ebenfalls keine eindeutige Gruppierung der für das DBSM relevanten </a:t>
            </a:r>
            <a:r>
              <a:rPr lang="de-DE" dirty="0" smtClean="0"/>
              <a:t>Themen.</a:t>
            </a:r>
            <a:endParaRPr lang="de-DE" dirty="0"/>
          </a:p>
        </p:txBody>
      </p:sp>
      <p:sp>
        <p:nvSpPr>
          <p:cNvPr id="717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3BBA09B9-4503-4404-9519-4B0163DF13EF}" type="slidenum">
              <a:rPr lang="de-DE" sz="1000" b="1"/>
              <a:pPr algn="ctr"/>
              <a:t>5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2. Arbeitsprozess</a:t>
            </a:r>
            <a:r>
              <a:rPr lang="de-DE" sz="2800" dirty="0"/>
              <a:t/>
            </a:r>
            <a:br>
              <a:rPr lang="de-DE" sz="2800" dirty="0"/>
            </a:b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Als Grundlage dient der monatliche </a:t>
            </a:r>
            <a:r>
              <a:rPr lang="de-DE" dirty="0" smtClean="0"/>
              <a:t>intern bereitgestellte Komplettabzug, </a:t>
            </a:r>
            <a:r>
              <a:rPr lang="de-DE" dirty="0"/>
              <a:t>über den neue IDNs mit vorhandenem Inhaltsverzeichnis (</a:t>
            </a:r>
            <a:r>
              <a:rPr lang="de-DE" dirty="0" smtClean="0"/>
              <a:t>TOC) anhand einer Suchabfrage </a:t>
            </a:r>
            <a:r>
              <a:rPr lang="de-DE" dirty="0"/>
              <a:t>ermittelt werden</a:t>
            </a:r>
            <a:r>
              <a:rPr lang="de-DE" dirty="0" smtClean="0"/>
              <a:t>.</a:t>
            </a:r>
          </a:p>
          <a:p>
            <a:r>
              <a:rPr lang="de-DE" dirty="0" smtClean="0"/>
              <a:t>Über die gefundenen IDNs </a:t>
            </a:r>
            <a:r>
              <a:rPr lang="de-DE" dirty="0"/>
              <a:t>kann gezielt die URL des jeweiligen Inhaltsverzeichnisses aufgerufen werden</a:t>
            </a:r>
            <a:r>
              <a:rPr lang="de-DE" dirty="0" smtClean="0"/>
              <a:t>.</a:t>
            </a:r>
          </a:p>
          <a:p>
            <a:r>
              <a:rPr lang="de-DE" dirty="0" smtClean="0"/>
              <a:t>Die </a:t>
            </a:r>
            <a:r>
              <a:rPr lang="de-DE" dirty="0"/>
              <a:t>Inhaltsverzeichnisse </a:t>
            </a:r>
            <a:r>
              <a:rPr lang="de-DE" dirty="0" smtClean="0"/>
              <a:t>können </a:t>
            </a:r>
            <a:r>
              <a:rPr lang="de-DE" dirty="0"/>
              <a:t>automatisiert durchsucht und anhand definierter Kriterien abgeglichen werden.</a:t>
            </a:r>
          </a:p>
        </p:txBody>
      </p:sp>
      <p:sp>
        <p:nvSpPr>
          <p:cNvPr id="8194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9EDF03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68B22CAA-76F9-40A4-82AB-BDA9A150BA32}" type="slidenum">
              <a:rPr lang="de-DE" sz="1000" b="1"/>
              <a:pPr algn="ctr"/>
              <a:t>6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2800" dirty="0" smtClean="0"/>
              <a:t>2.1 Gewichtung </a:t>
            </a:r>
            <a:r>
              <a:rPr lang="de-DE" sz="2800" dirty="0"/>
              <a:t>der Stichworte</a:t>
            </a:r>
            <a:r>
              <a:rPr lang="de-DE" sz="1600" dirty="0"/>
              <a:t/>
            </a:r>
            <a:br>
              <a:rPr lang="de-DE" sz="1600" dirty="0"/>
            </a:b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de-DE" dirty="0" smtClean="0"/>
              <a:t>in </a:t>
            </a:r>
            <a:r>
              <a:rPr lang="de-DE" dirty="0"/>
              <a:t>wichtiger Schritt war die Festlegung, welche Stichworte in den Inhaltsverzeichnissen gesucht werden sollen und wie aussagekräftig ein Treffer ist</a:t>
            </a:r>
            <a:r>
              <a:rPr lang="de-DE" dirty="0" smtClean="0"/>
              <a:t>.</a:t>
            </a:r>
          </a:p>
          <a:p>
            <a:r>
              <a:rPr lang="de-DE" dirty="0" smtClean="0"/>
              <a:t>Nicht </a:t>
            </a:r>
            <a:r>
              <a:rPr lang="de-DE" dirty="0"/>
              <a:t>jedes Stichwort ist gleich relevant. So ist beispielsweise „Verlag“ grundsätzlich interessant, kommt aber sehr häufig im allgemeinen Kontext eines Inhaltsverzeichnisses vor</a:t>
            </a:r>
            <a:r>
              <a:rPr lang="de-DE" dirty="0" smtClean="0"/>
              <a:t>. Um </a:t>
            </a:r>
            <a:r>
              <a:rPr lang="de-DE" dirty="0"/>
              <a:t>solche Unterschiede abzubilden, wurden die Stichworte mit einer Gewichtung von 1 bis 3 </a:t>
            </a:r>
            <a:r>
              <a:rPr lang="de-DE" dirty="0" smtClean="0"/>
              <a:t>versehen.</a:t>
            </a:r>
          </a:p>
        </p:txBody>
      </p:sp>
      <p:sp>
        <p:nvSpPr>
          <p:cNvPr id="9218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7EEF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54901366-3F13-43D2-9BD8-C88395F9D50D}" type="slidenum">
              <a:rPr lang="de-DE" sz="1000" b="1"/>
              <a:pPr algn="ctr"/>
              <a:t>7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idx="1"/>
          </p:nvPr>
        </p:nvSpPr>
        <p:spPr>
          <a:xfrm>
            <a:off x="827088" y="1124744"/>
            <a:ext cx="7593012" cy="499189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3 – hohe Gewichtung: Das Stichwort ist sehr aussagekräftig und kann für sich allein einen relevanten Treffer darstellen, z. B. „Verlagswesen</a:t>
            </a:r>
            <a:r>
              <a:rPr lang="de-DE" dirty="0" smtClean="0"/>
              <a:t>“</a:t>
            </a:r>
          </a:p>
          <a:p>
            <a:pPr marL="0" indent="0">
              <a:buNone/>
            </a:pPr>
            <a:r>
              <a:rPr lang="de-DE" dirty="0" smtClean="0"/>
              <a:t>2 </a:t>
            </a:r>
            <a:r>
              <a:rPr lang="de-DE" dirty="0"/>
              <a:t>– mittlere Gewichtung: Das Stichwort ist speziell, kann aber unterschiedliche Bedeutungen haben, z. B. „Codex</a:t>
            </a:r>
            <a:r>
              <a:rPr lang="de-DE" dirty="0" smtClean="0"/>
              <a:t>“</a:t>
            </a:r>
          </a:p>
          <a:p>
            <a:pPr marL="0" indent="0">
              <a:buNone/>
            </a:pPr>
            <a:r>
              <a:rPr lang="de-DE" dirty="0" smtClean="0"/>
              <a:t>1 </a:t>
            </a:r>
            <a:r>
              <a:rPr lang="de-DE" dirty="0"/>
              <a:t>– niedrige Gewichtung: Das Stichwort ist grundsätzlich relevant, muss aber im Zusammenhang mit weiteren Stichworten auftreten, z. B. „Verlag</a:t>
            </a:r>
            <a:r>
              <a:rPr lang="de-DE" dirty="0" smtClean="0"/>
              <a:t>“.</a:t>
            </a:r>
          </a:p>
          <a:p>
            <a:pPr marL="0" indent="0">
              <a:buNone/>
            </a:pPr>
            <a:r>
              <a:rPr lang="de-DE" dirty="0" smtClean="0"/>
              <a:t>Durch </a:t>
            </a:r>
            <a:r>
              <a:rPr lang="de-DE" dirty="0"/>
              <a:t>die Gewichtung können auch weniger eindeutige Begriffe berücksichtigt werden, ohne dass einzelne allgemeine Begriffe zu viele Treffer erzeugen.</a:t>
            </a:r>
          </a:p>
          <a:p>
            <a:endParaRPr lang="de-DE" dirty="0"/>
          </a:p>
        </p:txBody>
      </p:sp>
      <p:sp>
        <p:nvSpPr>
          <p:cNvPr id="10242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1F6877A1-CE93-4F03-87E7-6555A3C9C3C2}" type="slidenum">
              <a:rPr lang="de-DE" sz="1000" b="1"/>
              <a:pPr algn="ctr"/>
              <a:t>8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2800" dirty="0" smtClean="0"/>
              <a:t>2.2 </a:t>
            </a:r>
            <a:r>
              <a:rPr lang="de-DE" sz="2800" dirty="0"/>
              <a:t>Auswertung der ersten Ergebnismengen</a:t>
            </a:r>
            <a:r>
              <a:rPr lang="de-DE" sz="1600" dirty="0"/>
              <a:t/>
            </a:r>
            <a:br>
              <a:rPr lang="de-DE" sz="1600" dirty="0"/>
            </a:b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2698750"/>
            <a:ext cx="7593012" cy="3610570"/>
          </a:xfrm>
        </p:spPr>
        <p:txBody>
          <a:bodyPr/>
          <a:lstStyle/>
          <a:p>
            <a:r>
              <a:rPr lang="de-DE" dirty="0"/>
              <a:t>Die ersten Ergebnismengen gaben uns einen guten Überblick darüber, wie sich die gewählten Stichworte in der Praxis verhalten</a:t>
            </a:r>
            <a:r>
              <a:rPr lang="de-DE" dirty="0" smtClean="0"/>
              <a:t>.</a:t>
            </a:r>
          </a:p>
          <a:p>
            <a:r>
              <a:rPr lang="de-DE" dirty="0" smtClean="0"/>
              <a:t>Dabei </a:t>
            </a:r>
            <a:r>
              <a:rPr lang="de-DE" dirty="0"/>
              <a:t>konnten wir erkennen</a:t>
            </a:r>
            <a:r>
              <a:rPr lang="de-DE" dirty="0" smtClean="0"/>
              <a:t>: </a:t>
            </a:r>
          </a:p>
          <a:p>
            <a:pPr marL="457200" lvl="1" indent="0">
              <a:buNone/>
            </a:pPr>
            <a:r>
              <a:rPr lang="de-DE" dirty="0" smtClean="0"/>
              <a:t>- welche </a:t>
            </a:r>
            <a:r>
              <a:rPr lang="de-DE" dirty="0"/>
              <a:t>Stichworte besonders häufig in Kombination </a:t>
            </a:r>
            <a:r>
              <a:rPr lang="de-DE" dirty="0" smtClean="0"/>
              <a:t>auftreten, </a:t>
            </a:r>
            <a:br>
              <a:rPr lang="de-DE" dirty="0" smtClean="0"/>
            </a:br>
            <a:r>
              <a:rPr lang="de-DE" dirty="0" smtClean="0"/>
              <a:t>- welche </a:t>
            </a:r>
            <a:r>
              <a:rPr lang="de-DE" dirty="0"/>
              <a:t>Begriffe zu häufig in einem anderen Kontext verwendet werden, z. B. „</a:t>
            </a:r>
            <a:r>
              <a:rPr lang="de-DE" dirty="0" smtClean="0"/>
              <a:t>Konservierung“</a:t>
            </a:r>
            <a:br>
              <a:rPr lang="de-DE" dirty="0" smtClean="0"/>
            </a:br>
            <a:r>
              <a:rPr lang="de-DE" dirty="0" smtClean="0"/>
              <a:t>- wie </a:t>
            </a:r>
            <a:r>
              <a:rPr lang="de-DE" dirty="0"/>
              <a:t>die Gesamtgewichtung angepasst werden muss, damit nur ausreichend relevante Treffer berücksichtigt </a:t>
            </a:r>
            <a:r>
              <a:rPr lang="de-DE" dirty="0" smtClean="0"/>
              <a:t>werden. </a:t>
            </a:r>
            <a:br>
              <a:rPr lang="de-DE" dirty="0" smtClean="0"/>
            </a:br>
            <a:r>
              <a:rPr lang="de-DE" dirty="0" smtClean="0"/>
              <a:t>Die </a:t>
            </a:r>
            <a:r>
              <a:rPr lang="de-DE" dirty="0"/>
              <a:t>ersten Ergebnisse dienten damit dazu, Stichwortliste und Gewichtung schrittweise zu optimieren und eine geeignete Mindestgewichtung für die Auswahl festzulegen.</a:t>
            </a:r>
          </a:p>
        </p:txBody>
      </p:sp>
      <p:sp>
        <p:nvSpPr>
          <p:cNvPr id="1126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FB9A5C09-60F7-4597-AA13-EB7B3B3D1FF2}" type="slidenum">
              <a:rPr lang="de-DE" sz="1000" b="1"/>
              <a:pPr algn="ctr"/>
              <a:t>9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1600" dirty="0"/>
              <a:t/>
            </a:r>
            <a:br>
              <a:rPr lang="de-DE" sz="1600" dirty="0"/>
            </a:br>
            <a:endParaRPr lang="de-DE" dirty="0"/>
          </a:p>
        </p:txBody>
      </p:sp>
      <p:pic>
        <p:nvPicPr>
          <p:cNvPr id="2" name="Inhaltsplatzhalt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1340768"/>
            <a:ext cx="7056784" cy="4853432"/>
          </a:xfrm>
        </p:spPr>
      </p:pic>
      <p:sp>
        <p:nvSpPr>
          <p:cNvPr id="1126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FB9A5C09-60F7-4597-AA13-EB7B3B3D1FF2}" type="slidenum">
              <a:rPr lang="de-DE" sz="1000" b="1"/>
              <a:pPr algn="ctr"/>
              <a:t>10</a:t>
            </a:fld>
            <a:endParaRPr lang="de-DE" sz="1000" b="1"/>
          </a:p>
        </p:txBody>
      </p:sp>
    </p:spTree>
    <p:extLst>
      <p:ext uri="{BB962C8B-B14F-4D97-AF65-F5344CB8AC3E}">
        <p14:creationId xmlns:p14="http://schemas.microsoft.com/office/powerpoint/2010/main" val="32737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de-DE" sz="2800" dirty="0" smtClean="0"/>
              <a:t>2.3</a:t>
            </a:r>
            <a:r>
              <a:rPr lang="de-DE" sz="1600" dirty="0" smtClean="0"/>
              <a:t> </a:t>
            </a:r>
            <a:r>
              <a:rPr lang="de-DE" sz="2800" dirty="0" smtClean="0"/>
              <a:t>Einbindung </a:t>
            </a:r>
            <a:r>
              <a:rPr lang="de-DE" sz="2800" dirty="0"/>
              <a:t>von KI zur Unterstützung</a:t>
            </a:r>
            <a:r>
              <a:rPr lang="de-DE" dirty="0"/>
              <a:t/>
            </a:r>
            <a:br>
              <a:rPr lang="de-DE" dirty="0"/>
            </a:b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Durch die </a:t>
            </a:r>
            <a:r>
              <a:rPr lang="de-DE" dirty="0" smtClean="0"/>
              <a:t>Einbindung einer KI-Schnittstelle (LLM) </a:t>
            </a:r>
            <a:r>
              <a:rPr lang="de-DE" dirty="0"/>
              <a:t>der </a:t>
            </a:r>
            <a:r>
              <a:rPr lang="de-DE" dirty="0" smtClean="0"/>
              <a:t>GWGD konnten </a:t>
            </a:r>
            <a:r>
              <a:rPr lang="de-DE" dirty="0"/>
              <a:t>die Ergebnismengen weiter verbessert werden</a:t>
            </a:r>
            <a:r>
              <a:rPr lang="de-DE" dirty="0" smtClean="0"/>
              <a:t>.</a:t>
            </a:r>
          </a:p>
          <a:p>
            <a:r>
              <a:rPr lang="de-DE" dirty="0" smtClean="0"/>
              <a:t>Die </a:t>
            </a:r>
            <a:r>
              <a:rPr lang="de-DE" dirty="0"/>
              <a:t>KI übernimmt dabei eine Relevanzprüfung der gefundenen </a:t>
            </a:r>
            <a:r>
              <a:rPr lang="de-DE" dirty="0" smtClean="0"/>
              <a:t>Treffer. </a:t>
            </a:r>
            <a:r>
              <a:rPr lang="de-DE" dirty="0"/>
              <a:t>Dadurch können potenzielle Treffer </a:t>
            </a:r>
            <a:r>
              <a:rPr lang="de-DE" dirty="0" smtClean="0"/>
              <a:t>nachträglich aussortiert </a:t>
            </a:r>
            <a:r>
              <a:rPr lang="de-DE" dirty="0"/>
              <a:t>werden, deren Inhalte für das DBSM nicht relevant sind</a:t>
            </a:r>
            <a:r>
              <a:rPr lang="de-DE" dirty="0" smtClean="0"/>
              <a:t>.</a:t>
            </a:r>
          </a:p>
          <a:p>
            <a:pPr marL="457200" lvl="1" indent="0">
              <a:buNone/>
            </a:pPr>
            <a:r>
              <a:rPr lang="de-DE" dirty="0" smtClean="0"/>
              <a:t>Ein </a:t>
            </a:r>
            <a:r>
              <a:rPr lang="de-DE" dirty="0"/>
              <a:t>Beispiel ist das Stichwort „Buchdrucker“: Ein Treffer kann sich auf den historischen Buchdruck beziehen – oder auf den Buchdrucker als Käfer</a:t>
            </a:r>
            <a:r>
              <a:rPr lang="de-DE" dirty="0" smtClean="0"/>
              <a:t>. Die </a:t>
            </a:r>
            <a:r>
              <a:rPr lang="de-DE" dirty="0"/>
              <a:t>KI hilft dabei, solche inhaltlichen Zusammenhänge zu erkennen und die Treffermenge gezielter einzugrenzen.</a:t>
            </a:r>
          </a:p>
        </p:txBody>
      </p:sp>
      <p:sp>
        <p:nvSpPr>
          <p:cNvPr id="1229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FB863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E15918B6-6326-4FE2-9FF6-A6C9AEDA9D7E}" type="slidenum">
              <a:rPr lang="de-DE" sz="1000" b="1"/>
              <a:pPr algn="ctr"/>
              <a:t>11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1052736"/>
            <a:ext cx="7593012" cy="5063902"/>
          </a:xfrm>
        </p:spPr>
        <p:txBody>
          <a:bodyPr/>
          <a:lstStyle/>
          <a:p>
            <a:r>
              <a:rPr lang="de-DE" dirty="0" smtClean="0"/>
              <a:t>Dafür wurde ein Prompt erstellt und über Monate angepasst</a:t>
            </a:r>
          </a:p>
          <a:p>
            <a:endParaRPr lang="de-DE" dirty="0"/>
          </a:p>
        </p:txBody>
      </p:sp>
      <p:sp>
        <p:nvSpPr>
          <p:cNvPr id="13314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5B255F3E-E2AF-4E08-A2BE-E5C3AAFE6FE5}" type="slidenum">
              <a:rPr lang="de-DE" sz="1000" b="1"/>
              <a:pPr algn="ctr"/>
              <a:t>12</a:t>
            </a:fld>
            <a:endParaRPr lang="de-DE" sz="1000" b="1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7049484" cy="3705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1556792"/>
            <a:ext cx="7593012" cy="4559846"/>
          </a:xfrm>
        </p:spPr>
        <p:txBody>
          <a:bodyPr/>
          <a:lstStyle/>
          <a:p>
            <a:r>
              <a:rPr lang="de-DE" dirty="0" smtClean="0"/>
              <a:t>Der Prompt beinhaltet:</a:t>
            </a:r>
          </a:p>
          <a:p>
            <a:pPr marL="457200" lvl="1" indent="0">
              <a:buNone/>
            </a:pPr>
            <a:r>
              <a:rPr lang="de-DE" dirty="0" smtClean="0"/>
              <a:t>Aufgabenbeschreibung für die KI</a:t>
            </a:r>
          </a:p>
          <a:p>
            <a:pPr marL="457200" lvl="1" indent="0">
              <a:buNone/>
            </a:pPr>
            <a:r>
              <a:rPr lang="de-DE" dirty="0" smtClean="0"/>
              <a:t>Relevanten Bereiche</a:t>
            </a:r>
          </a:p>
          <a:p>
            <a:pPr marL="457200" lvl="1" indent="0">
              <a:buNone/>
            </a:pPr>
            <a:r>
              <a:rPr lang="de-DE" dirty="0" smtClean="0"/>
              <a:t>Nicht relevanten Bereiche</a:t>
            </a:r>
          </a:p>
          <a:p>
            <a:pPr marL="457200" lvl="1" indent="0">
              <a:buNone/>
            </a:pPr>
            <a:r>
              <a:rPr lang="de-DE" dirty="0" smtClean="0"/>
              <a:t>Positive Beispiel</a:t>
            </a:r>
          </a:p>
          <a:p>
            <a:pPr marL="457200" lvl="1" indent="0">
              <a:buNone/>
            </a:pPr>
            <a:r>
              <a:rPr lang="de-DE" dirty="0" smtClean="0"/>
              <a:t>Negative Beispiele </a:t>
            </a:r>
          </a:p>
          <a:p>
            <a:pPr marL="457200" lvl="1" indent="0">
              <a:buNone/>
            </a:pPr>
            <a:r>
              <a:rPr lang="de-DE" dirty="0" smtClean="0"/>
              <a:t>Ausgabeformat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dirty="0" smtClean="0"/>
              <a:t>Dabei soll die KI das jeweilige Werk in </a:t>
            </a:r>
            <a:r>
              <a:rPr lang="de-DE" i="1" dirty="0" smtClean="0"/>
              <a:t>relevant</a:t>
            </a:r>
            <a:r>
              <a:rPr lang="de-DE" dirty="0" smtClean="0"/>
              <a:t>, </a:t>
            </a:r>
            <a:r>
              <a:rPr lang="de-DE" i="1" dirty="0" smtClean="0"/>
              <a:t>teilweise relevant </a:t>
            </a:r>
            <a:r>
              <a:rPr lang="de-DE" dirty="0" smtClean="0"/>
              <a:t>und </a:t>
            </a:r>
            <a:r>
              <a:rPr lang="de-DE" i="1" dirty="0" smtClean="0"/>
              <a:t>nicht relevant </a:t>
            </a:r>
            <a:r>
              <a:rPr lang="de-DE" dirty="0" smtClean="0"/>
              <a:t>eingliedern </a:t>
            </a:r>
            <a:r>
              <a:rPr lang="de-DE" dirty="0" err="1" smtClean="0"/>
              <a:t>u.nd</a:t>
            </a:r>
            <a:r>
              <a:rPr lang="de-DE" dirty="0" smtClean="0"/>
              <a:t> dies mit 1-2 Sätzen begründen</a:t>
            </a:r>
            <a:endParaRPr lang="de-DE" dirty="0"/>
          </a:p>
        </p:txBody>
      </p:sp>
      <p:sp>
        <p:nvSpPr>
          <p:cNvPr id="14338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6E989BB9-3CC7-4ADB-A5A9-6FC66B9DB0FD}" type="slidenum">
              <a:rPr lang="de-DE" sz="1000" b="1"/>
              <a:pPr algn="ctr"/>
              <a:t>13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56" y="1556792"/>
            <a:ext cx="7665094" cy="2808312"/>
          </a:xfrm>
        </p:spPr>
      </p:pic>
      <p:sp>
        <p:nvSpPr>
          <p:cNvPr id="15362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1EB0142D-B270-4794-8B97-49896BD769A3}" type="slidenum">
              <a:rPr lang="de-DE" sz="1000" b="1"/>
              <a:pPr algn="ctr"/>
              <a:t>14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1772816"/>
            <a:ext cx="7593012" cy="4343822"/>
          </a:xfrm>
        </p:spPr>
        <p:txBody>
          <a:bodyPr/>
          <a:lstStyle/>
          <a:p>
            <a:r>
              <a:rPr lang="de-DE" dirty="0" smtClean="0"/>
              <a:t>Relevant</a:t>
            </a:r>
          </a:p>
          <a:p>
            <a:pPr marL="457200" lvl="1" indent="0">
              <a:buNone/>
            </a:pPr>
            <a:r>
              <a:rPr lang="de-DE" dirty="0" smtClean="0"/>
              <a:t>Das </a:t>
            </a:r>
            <a:r>
              <a:rPr lang="de-DE" dirty="0"/>
              <a:t>Werk behandelt überwiegend Themen, die für den Sammlungsbestand des DBSM von Bedeutung sind</a:t>
            </a:r>
            <a:r>
              <a:rPr lang="de-DE" dirty="0" smtClean="0"/>
              <a:t>.</a:t>
            </a:r>
          </a:p>
          <a:p>
            <a:pPr marL="457200" lvl="1" indent="0">
              <a:buNone/>
            </a:pPr>
            <a:r>
              <a:rPr lang="de-DE" dirty="0" smtClean="0"/>
              <a:t>→ </a:t>
            </a:r>
            <a:r>
              <a:rPr lang="de-DE" dirty="0"/>
              <a:t>Das Werk wird als potenzieller Treffer berücksichtigt</a:t>
            </a:r>
            <a:r>
              <a:rPr lang="de-DE" dirty="0" smtClean="0"/>
              <a:t>.</a:t>
            </a:r>
          </a:p>
          <a:p>
            <a:r>
              <a:rPr lang="de-DE" dirty="0" smtClean="0"/>
              <a:t>Teilweise relevant</a:t>
            </a:r>
          </a:p>
          <a:p>
            <a:pPr marL="457200" lvl="1" indent="0">
              <a:buNone/>
            </a:pPr>
            <a:r>
              <a:rPr lang="de-DE" dirty="0" smtClean="0"/>
              <a:t>Das </a:t>
            </a:r>
            <a:r>
              <a:rPr lang="de-DE" dirty="0"/>
              <a:t>Werk enthält einzelne thematisch relevante Aspekte, der Schwerpunkt liegt jedoch auf anderen Inhalten</a:t>
            </a:r>
            <a:r>
              <a:rPr lang="de-DE" dirty="0" smtClean="0"/>
              <a:t>.</a:t>
            </a:r>
          </a:p>
          <a:p>
            <a:pPr marL="457200" lvl="1" indent="0">
              <a:buNone/>
            </a:pPr>
            <a:r>
              <a:rPr lang="de-DE" dirty="0" smtClean="0"/>
              <a:t>→ </a:t>
            </a:r>
            <a:r>
              <a:rPr lang="de-DE" dirty="0"/>
              <a:t>Das Werk wird als Grenzfall gekennzeichnet und kann anschließend fachlich geprüft werden</a:t>
            </a:r>
            <a:r>
              <a:rPr lang="de-DE" dirty="0" smtClean="0"/>
              <a:t>.</a:t>
            </a:r>
          </a:p>
          <a:p>
            <a:r>
              <a:rPr lang="de-DE" dirty="0" smtClean="0"/>
              <a:t>Nicht relevant</a:t>
            </a:r>
          </a:p>
          <a:p>
            <a:pPr marL="457200" lvl="1" indent="0">
              <a:buNone/>
            </a:pPr>
            <a:r>
              <a:rPr lang="de-DE" dirty="0" smtClean="0"/>
              <a:t>Das </a:t>
            </a:r>
            <a:r>
              <a:rPr lang="de-DE" dirty="0"/>
              <a:t>Werk weist keinen oder nur einen zufälligen bzw. für das DBSM nicht ausreichenden thematischen Bezug auf</a:t>
            </a:r>
            <a:r>
              <a:rPr lang="de-DE" dirty="0" smtClean="0"/>
              <a:t>.</a:t>
            </a:r>
          </a:p>
          <a:p>
            <a:pPr marL="457200" lvl="1" indent="0">
              <a:buNone/>
            </a:pPr>
            <a:r>
              <a:rPr lang="de-DE" dirty="0" smtClean="0"/>
              <a:t>→ </a:t>
            </a:r>
            <a:r>
              <a:rPr lang="de-DE" dirty="0"/>
              <a:t>Das Werk wird aus der Treffermenge ausgeschlossen.</a:t>
            </a:r>
          </a:p>
        </p:txBody>
      </p:sp>
      <p:sp>
        <p:nvSpPr>
          <p:cNvPr id="1638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7EEF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5BB910FC-E7E2-4C07-816E-9606D72285F4}" type="slidenum">
              <a:rPr lang="de-DE" sz="1000" b="1"/>
              <a:pPr algn="ctr"/>
              <a:t>15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4" y="1411312"/>
            <a:ext cx="8270970" cy="4393952"/>
          </a:xfrm>
        </p:spPr>
      </p:pic>
      <p:sp>
        <p:nvSpPr>
          <p:cNvPr id="1638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7EEF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5BB910FC-E7E2-4C07-816E-9606D72285F4}" type="slidenum">
              <a:rPr lang="de-DE" sz="1000" b="1"/>
              <a:pPr algn="ctr"/>
              <a:t>16</a:t>
            </a:fld>
            <a:endParaRPr lang="de-DE" sz="1000" b="1"/>
          </a:p>
        </p:txBody>
      </p:sp>
    </p:spTree>
    <p:extLst>
      <p:ext uri="{BB962C8B-B14F-4D97-AF65-F5344CB8AC3E}">
        <p14:creationId xmlns:p14="http://schemas.microsoft.com/office/powerpoint/2010/main" val="32167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3. </a:t>
            </a:r>
            <a:r>
              <a:rPr lang="de-DE" sz="2800" dirty="0" err="1" smtClean="0"/>
              <a:t>InhaltsVZ</a:t>
            </a:r>
            <a:r>
              <a:rPr lang="de-DE" sz="2800" dirty="0" smtClean="0"/>
              <a:t>-Tool</a:t>
            </a:r>
            <a:r>
              <a:rPr lang="de-DE" sz="2800" dirty="0"/>
              <a:t/>
            </a:r>
            <a:br>
              <a:rPr lang="de-DE" sz="2800" dirty="0"/>
            </a:b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Der entwickelte Prozess hat sich im DBSM als effektive </a:t>
            </a:r>
            <a:r>
              <a:rPr lang="de-DE" dirty="0" smtClean="0"/>
              <a:t>und ressourcenschonende Unterstützung </a:t>
            </a:r>
            <a:r>
              <a:rPr lang="de-DE" dirty="0"/>
              <a:t>bei der Auswahl relevanter Publikationen bewährt</a:t>
            </a:r>
            <a:r>
              <a:rPr lang="de-DE" dirty="0" smtClean="0"/>
              <a:t>. Daraus </a:t>
            </a:r>
            <a:r>
              <a:rPr lang="de-DE" dirty="0"/>
              <a:t>entstand die Überlegung, die gewonnenen Erfahrungen und Arbeitsschritte auch anderen Institutionen zur Verfügung zu stellen</a:t>
            </a:r>
            <a:r>
              <a:rPr lang="de-DE" dirty="0" smtClean="0"/>
              <a:t>. Aus </a:t>
            </a:r>
            <a:r>
              <a:rPr lang="de-DE" dirty="0"/>
              <a:t>dieser Idee heraus wurde das InhaltsVZ-Tool entwickelt</a:t>
            </a:r>
            <a:r>
              <a:rPr lang="de-DE" dirty="0" smtClean="0"/>
              <a:t>. </a:t>
            </a:r>
          </a:p>
        </p:txBody>
      </p:sp>
      <p:sp>
        <p:nvSpPr>
          <p:cNvPr id="1741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4896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CDB78337-3E71-4325-899F-F5DAF048845A}" type="slidenum">
              <a:rPr lang="de-DE" sz="1000" b="1"/>
              <a:pPr algn="ctr"/>
              <a:t>17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1700808"/>
            <a:ext cx="7593012" cy="441583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Das InhaltsVZ-Tool bündelt die wesentlichen Arbeitsschritte in einer einfach bedienbaren </a:t>
            </a:r>
            <a:r>
              <a:rPr lang="de-DE" dirty="0" smtClean="0"/>
              <a:t>Anwendung</a:t>
            </a:r>
            <a:r>
              <a:rPr lang="de-DE" dirty="0"/>
              <a:t>:</a:t>
            </a:r>
            <a:endParaRPr lang="de-DE" dirty="0" smtClean="0"/>
          </a:p>
          <a:p>
            <a:pPr lvl="1"/>
            <a:r>
              <a:rPr lang="de-DE" dirty="0" smtClean="0"/>
              <a:t>OAI-Schnittstelle</a:t>
            </a:r>
            <a:r>
              <a:rPr lang="de-DE" dirty="0"/>
              <a:t>: </a:t>
            </a:r>
            <a:r>
              <a:rPr lang="de-DE" dirty="0" smtClean="0"/>
              <a:t>Ermittelt </a:t>
            </a:r>
            <a:r>
              <a:rPr lang="de-DE" dirty="0"/>
              <a:t>neue Datensätze mit vorhandenen Inhaltsverzeichnissen und übernimmt die zugehörigen IDNs</a:t>
            </a:r>
            <a:r>
              <a:rPr lang="de-DE" dirty="0" smtClean="0"/>
              <a:t>.</a:t>
            </a:r>
          </a:p>
          <a:p>
            <a:pPr lvl="1"/>
            <a:r>
              <a:rPr lang="de-DE" dirty="0" smtClean="0"/>
              <a:t>Stichwortanalyse</a:t>
            </a:r>
            <a:r>
              <a:rPr lang="de-DE" dirty="0"/>
              <a:t>: Durchsucht die Inhaltsverzeichnisse nach definierten Stichworten und bewertet die Treffer anhand ihrer Gewichtung</a:t>
            </a:r>
            <a:r>
              <a:rPr lang="de-DE" dirty="0" smtClean="0"/>
              <a:t>.</a:t>
            </a:r>
          </a:p>
          <a:p>
            <a:pPr lvl="1"/>
            <a:r>
              <a:rPr lang="de-DE" dirty="0" smtClean="0"/>
              <a:t>SRU-Schnittstelle</a:t>
            </a:r>
            <a:r>
              <a:rPr lang="de-DE" dirty="0"/>
              <a:t>: Ergänzt ausgewählte bibliografische Angaben aus den vorhandenen Datensätzen</a:t>
            </a:r>
            <a:r>
              <a:rPr lang="de-DE" dirty="0" smtClean="0"/>
              <a:t>.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sz="2000" dirty="0" smtClean="0"/>
              <a:t>Die </a:t>
            </a:r>
            <a:r>
              <a:rPr lang="de-DE" sz="2000" dirty="0"/>
              <a:t>drei Bereiche können unabhängig voneinander genutzt werden und ermöglichen damit eine flexible Anpassung an unterschiedliche Arbeitsabläufe.</a:t>
            </a:r>
          </a:p>
        </p:txBody>
      </p:sp>
      <p:sp>
        <p:nvSpPr>
          <p:cNvPr id="18434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46C4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049DFBE8-B47F-4609-9919-15145F99673B}" type="slidenum">
              <a:rPr lang="de-DE" sz="1000" b="1"/>
              <a:pPr algn="ctr"/>
              <a:t>18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997" t="5344" r="3761" b="2018"/>
          <a:stretch/>
        </p:blipFill>
        <p:spPr>
          <a:xfrm>
            <a:off x="2123728" y="1555997"/>
            <a:ext cx="5040560" cy="4296871"/>
          </a:xfrm>
          <a:prstGeom prst="rect">
            <a:avLst/>
          </a:prstGeom>
        </p:spPr>
      </p:pic>
      <p:sp>
        <p:nvSpPr>
          <p:cNvPr id="18434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46C4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049DFBE8-B47F-4609-9919-15145F99673B}" type="slidenum">
              <a:rPr lang="de-DE" sz="1000" b="1"/>
              <a:pPr algn="ctr"/>
              <a:t>19</a:t>
            </a:fld>
            <a:endParaRPr lang="de-DE" sz="1000" b="1"/>
          </a:p>
        </p:txBody>
      </p:sp>
    </p:spTree>
    <p:extLst>
      <p:ext uri="{BB962C8B-B14F-4D97-AF65-F5344CB8AC3E}">
        <p14:creationId xmlns:p14="http://schemas.microsoft.com/office/powerpoint/2010/main" val="384781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67842" y="1844824"/>
            <a:ext cx="7520508" cy="3744416"/>
          </a:xfrm>
        </p:spPr>
        <p:txBody>
          <a:bodyPr/>
          <a:lstStyle/>
          <a:p>
            <a:pPr marL="0" indent="0">
              <a:buNone/>
            </a:pPr>
            <a:r>
              <a:rPr lang="de-DE" sz="2100" b="1" dirty="0"/>
              <a:t>Wo ist das Tool zu finden und was wird benötigt</a:t>
            </a:r>
            <a:r>
              <a:rPr lang="de-DE" sz="2100" b="1" dirty="0" smtClean="0"/>
              <a:t>?</a:t>
            </a:r>
          </a:p>
          <a:p>
            <a:pPr marL="0" indent="0">
              <a:buNone/>
            </a:pPr>
            <a:r>
              <a:rPr lang="de-DE" dirty="0" smtClean="0"/>
              <a:t>Das </a:t>
            </a:r>
            <a:r>
              <a:rPr lang="de-DE" dirty="0" err="1"/>
              <a:t>InhaltsVZ</a:t>
            </a:r>
            <a:r>
              <a:rPr lang="de-DE" dirty="0"/>
              <a:t>-Tool wird als Open-Source-Projekt auf </a:t>
            </a:r>
            <a:r>
              <a:rPr lang="de-DE" dirty="0" smtClean="0"/>
              <a:t>dem </a:t>
            </a:r>
            <a:r>
              <a:rPr lang="de-DE" dirty="0" err="1" smtClean="0"/>
              <a:t>GitHub</a:t>
            </a:r>
            <a:r>
              <a:rPr lang="de-DE" dirty="0" smtClean="0"/>
              <a:t>-Bereich des DBSM </a:t>
            </a:r>
            <a:r>
              <a:rPr lang="de-DE" dirty="0"/>
              <a:t>bereitgestellt. Dort stehen der Quellcode, die Dokumentation und eine Anleitung zur Einrichtung und Nutzung zur Verfügung. Ein README eignet sich dabei als zentraler Einstiegspunkt für Projektbeschreibung, Voraussetzungen und erste Schritte</a:t>
            </a:r>
            <a:r>
              <a:rPr lang="de-DE" dirty="0" smtClean="0"/>
              <a:t>. Im </a:t>
            </a:r>
            <a:r>
              <a:rPr lang="de-DE" dirty="0" err="1" smtClean="0"/>
              <a:t>Github</a:t>
            </a:r>
            <a:r>
              <a:rPr lang="de-DE" dirty="0" smtClean="0"/>
              <a:t> finden Sie auch eine Bedienungsanleitung.</a:t>
            </a:r>
            <a:endParaRPr lang="de-DE" dirty="0" smtClean="0"/>
          </a:p>
          <a:p>
            <a:pPr marL="0" indent="0">
              <a:buNone/>
            </a:pPr>
            <a:r>
              <a:rPr lang="de-DE" dirty="0">
                <a:hlinkClick r:id="rId2"/>
              </a:rPr>
              <a:t>https://</a:t>
            </a:r>
            <a:r>
              <a:rPr lang="de-DE" dirty="0" smtClean="0">
                <a:hlinkClick r:id="rId2"/>
              </a:rPr>
              <a:t>github.com/buchmuseum/InhaltVZ-Tool</a:t>
            </a:r>
            <a:endParaRPr lang="de-DE" dirty="0" smtClean="0"/>
          </a:p>
          <a:p>
            <a:pPr marL="0" indent="0">
              <a:buNone/>
            </a:pPr>
            <a:endParaRPr lang="de-DE" dirty="0" smtClean="0"/>
          </a:p>
        </p:txBody>
      </p:sp>
      <p:sp>
        <p:nvSpPr>
          <p:cNvPr id="19458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5E15879C-1943-4F80-9F3A-2F272C09993A}" type="slidenum">
              <a:rPr lang="de-DE" sz="1000" b="1"/>
              <a:pPr algn="ctr"/>
              <a:t>20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795338" y="1700808"/>
            <a:ext cx="7593012" cy="386997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Voraussetzungen für die Nutzung</a:t>
            </a:r>
            <a:r>
              <a:rPr lang="de-DE" dirty="0" smtClean="0"/>
              <a:t>:</a:t>
            </a:r>
          </a:p>
          <a:p>
            <a:pPr lvl="1"/>
            <a:r>
              <a:rPr lang="de-DE" dirty="0" smtClean="0"/>
              <a:t>eine Python-Installation</a:t>
            </a:r>
          </a:p>
          <a:p>
            <a:pPr lvl="1"/>
            <a:r>
              <a:rPr lang="de-DE" dirty="0" smtClean="0"/>
              <a:t>die </a:t>
            </a:r>
            <a:r>
              <a:rPr lang="de-DE" dirty="0"/>
              <a:t>im Projekt angegebenen </a:t>
            </a:r>
            <a:r>
              <a:rPr lang="de-DE" dirty="0" smtClean="0"/>
              <a:t>Python-Bibliotheken</a:t>
            </a:r>
          </a:p>
          <a:p>
            <a:pPr lvl="1"/>
            <a:r>
              <a:rPr lang="de-DE" dirty="0" smtClean="0"/>
              <a:t>eine </a:t>
            </a:r>
            <a:r>
              <a:rPr lang="de-DE" dirty="0"/>
              <a:t>vorbereitete Stichwortdatei (stichwort.xlsx</a:t>
            </a:r>
            <a:r>
              <a:rPr lang="de-DE" dirty="0" smtClean="0"/>
              <a:t>)</a:t>
            </a:r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r>
              <a:rPr lang="de-DE" sz="2000" dirty="0" smtClean="0"/>
              <a:t>Das </a:t>
            </a:r>
            <a:r>
              <a:rPr lang="de-DE" sz="2000" dirty="0"/>
              <a:t>Tool wird anschließend über das Terminal </a:t>
            </a:r>
            <a:r>
              <a:rPr lang="de-DE" sz="2000" dirty="0" smtClean="0"/>
              <a:t>mit </a:t>
            </a:r>
            <a:r>
              <a:rPr lang="de-DE" sz="2000" dirty="0" err="1" smtClean="0"/>
              <a:t>python</a:t>
            </a:r>
            <a:r>
              <a:rPr lang="de-DE" sz="2000" dirty="0" smtClean="0"/>
              <a:t> main.py gestartet.</a:t>
            </a:r>
          </a:p>
          <a:p>
            <a:pPr marL="457200" lvl="1" indent="0">
              <a:buNone/>
            </a:pPr>
            <a:endParaRPr lang="de-DE" sz="2000" dirty="0" smtClean="0"/>
          </a:p>
          <a:p>
            <a:pPr marL="457200" lvl="1" indent="0">
              <a:buNone/>
            </a:pPr>
            <a:r>
              <a:rPr lang="de-DE" sz="2000" dirty="0" smtClean="0"/>
              <a:t>Hinweis</a:t>
            </a:r>
            <a:r>
              <a:rPr lang="de-DE" sz="2000" dirty="0"/>
              <a:t>: Die konkrete Einrichtung und Nutzung wird in der beiliegenden Bedienungsanleitung Schritt für Schritt erklärt.</a:t>
            </a:r>
          </a:p>
          <a:p>
            <a:endParaRPr lang="de-DE" dirty="0"/>
          </a:p>
        </p:txBody>
      </p:sp>
      <p:sp>
        <p:nvSpPr>
          <p:cNvPr id="20482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 smtClean="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4370F93C-3ABC-42B4-9B83-2F58888652D9}" type="slidenum">
              <a:rPr lang="de-DE" sz="1000" b="1"/>
              <a:pPr algn="ctr"/>
              <a:t>21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7088" y="1124744"/>
            <a:ext cx="7593012" cy="5112568"/>
          </a:xfrm>
        </p:spPr>
        <p:txBody>
          <a:bodyPr/>
          <a:lstStyle/>
          <a:p>
            <a:pPr marL="0" indent="0">
              <a:buNone/>
            </a:pPr>
            <a:r>
              <a:rPr lang="de-DE" b="1" dirty="0" smtClean="0"/>
              <a:t>Abschluss </a:t>
            </a:r>
          </a:p>
          <a:p>
            <a:pPr marL="0" indent="0">
              <a:buNone/>
            </a:pPr>
            <a:r>
              <a:rPr lang="de-DE" sz="1600" dirty="0" smtClean="0"/>
              <a:t>Mit </a:t>
            </a:r>
            <a:r>
              <a:rPr lang="de-DE" sz="1600" dirty="0"/>
              <a:t>dem </a:t>
            </a:r>
            <a:r>
              <a:rPr lang="de-DE" sz="1600" b="1" dirty="0"/>
              <a:t>InhaltsVZ-Tool</a:t>
            </a:r>
            <a:r>
              <a:rPr lang="de-DE" sz="1600" dirty="0"/>
              <a:t> wurde ein Arbeitsprozess, der ursprünglich durch einen hohen manuellen Aufwand geprägt war, schrittweise </a:t>
            </a:r>
            <a:r>
              <a:rPr lang="de-DE" sz="1600" b="1" dirty="0"/>
              <a:t>digitalisiert und automatisiert</a:t>
            </a:r>
            <a:r>
              <a:rPr lang="de-DE" sz="1600" dirty="0"/>
              <a:t>.</a:t>
            </a:r>
          </a:p>
          <a:p>
            <a:pPr marL="0" indent="0">
              <a:buNone/>
            </a:pPr>
            <a:r>
              <a:rPr lang="de-DE" sz="1600" dirty="0"/>
              <a:t>Die Erfahrungen aus dem DBSM zeigen, dass insbesondere die Kombination aus </a:t>
            </a:r>
            <a:r>
              <a:rPr lang="de-DE" sz="1600" b="1" dirty="0"/>
              <a:t>strukturierten Metadaten, Stichwortanalyse </a:t>
            </a:r>
            <a:r>
              <a:rPr lang="de-DE" sz="1600" dirty="0"/>
              <a:t>und</a:t>
            </a:r>
            <a:r>
              <a:rPr lang="de-DE" sz="1600" b="1" dirty="0"/>
              <a:t> KI-gestützter Relevanzprüfung</a:t>
            </a:r>
            <a:r>
              <a:rPr lang="de-DE" sz="1600" dirty="0"/>
              <a:t> eine gezieltere Auswahl relevanter Publikationen ermöglicht.</a:t>
            </a:r>
          </a:p>
          <a:p>
            <a:pPr marL="0" indent="0">
              <a:buNone/>
            </a:pPr>
            <a:r>
              <a:rPr lang="de-DE" sz="1600" dirty="0"/>
              <a:t>Das Tool stellt dabei einen weiteren Schritt dar, um diese Arbeitsweise </a:t>
            </a:r>
            <a:r>
              <a:rPr lang="de-DE" sz="1600" dirty="0" smtClean="0"/>
              <a:t>zum großen Teil </a:t>
            </a:r>
            <a:r>
              <a:rPr lang="de-DE" sz="1600" b="1" dirty="0" smtClean="0"/>
              <a:t>auch </a:t>
            </a:r>
            <a:r>
              <a:rPr lang="de-DE" sz="1600" b="1" dirty="0"/>
              <a:t>anderen Institutionen zugänglich zu machen</a:t>
            </a:r>
            <a:r>
              <a:rPr lang="de-DE" sz="1600" dirty="0"/>
              <a:t>.</a:t>
            </a:r>
          </a:p>
          <a:p>
            <a:pPr marL="0" indent="0">
              <a:buNone/>
            </a:pPr>
            <a:r>
              <a:rPr lang="de-DE" sz="1600" b="1" dirty="0"/>
              <a:t>Unser Ziel ist nicht, die </a:t>
            </a:r>
            <a:r>
              <a:rPr lang="de-DE" sz="1600" b="1" dirty="0" smtClean="0"/>
              <a:t>fachlich-wissenschaftliche </a:t>
            </a:r>
            <a:r>
              <a:rPr lang="de-DE" sz="1600" b="1" dirty="0"/>
              <a:t>Entscheidung zu ersetzen, sondern </a:t>
            </a:r>
            <a:r>
              <a:rPr lang="de-DE" sz="1600" b="1" dirty="0" smtClean="0"/>
              <a:t>diese </a:t>
            </a:r>
            <a:r>
              <a:rPr lang="de-DE" sz="1600" b="1" dirty="0"/>
              <a:t>dort zu unterstützen, wo Maschinen große Datenmengen schneller vorsortieren und analysieren können.</a:t>
            </a:r>
            <a:endParaRPr lang="de-DE" sz="1600" dirty="0"/>
          </a:p>
          <a:p>
            <a:endParaRPr lang="de-DE" dirty="0"/>
          </a:p>
        </p:txBody>
      </p:sp>
      <p:sp>
        <p:nvSpPr>
          <p:cNvPr id="2150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  <a:endParaRPr lang="de-DE" dirty="0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810F07D3-BF98-4775-A0D7-0AFDF73E6A24}" type="slidenum">
              <a:rPr lang="de-DE" sz="1000" b="1"/>
              <a:pPr algn="ctr"/>
              <a:t>22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Vielen Dank für Ihre Aufmerksamkeit!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Wir freuen uns über Fragen, Anregungen und den Austausch zu den Möglichkeiten der automatisierten </a:t>
            </a:r>
            <a:r>
              <a:rPr lang="de-DE" dirty="0" smtClean="0"/>
              <a:t>Auswahl </a:t>
            </a:r>
            <a:r>
              <a:rPr lang="de-DE" dirty="0"/>
              <a:t>von Publikationen</a:t>
            </a:r>
            <a:r>
              <a:rPr lang="de-DE" dirty="0" smtClean="0"/>
              <a:t>.</a:t>
            </a:r>
          </a:p>
          <a:p>
            <a:pPr marL="0" indent="0">
              <a:buNone/>
            </a:pPr>
            <a:r>
              <a:rPr lang="de-DE" dirty="0" smtClean="0"/>
              <a:t>Kontakt:</a:t>
            </a:r>
          </a:p>
          <a:p>
            <a:pPr marL="0" indent="0">
              <a:buNone/>
            </a:pPr>
            <a:r>
              <a:rPr lang="de-DE" dirty="0" smtClean="0"/>
              <a:t>i.sickert@dnb.de</a:t>
            </a:r>
            <a:endParaRPr lang="de-DE" dirty="0"/>
          </a:p>
          <a:p>
            <a:endParaRPr lang="de-DE" dirty="0"/>
          </a:p>
        </p:txBody>
      </p:sp>
      <p:sp>
        <p:nvSpPr>
          <p:cNvPr id="2253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23     | Titelauswahl mit Hilfe von Inhaltsverzeichnissen| 13. August 2026</a:t>
            </a: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6856413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324000" anchor="b" anchorCtr="1"/>
          <a:lstStyle/>
          <a:p>
            <a:pPr algn="ctr"/>
            <a:fld id="{7FF2B90E-CFA3-4F2D-A288-A9A60EF3E42D}" type="slidenum">
              <a:rPr lang="de-DE" sz="1000" b="1"/>
              <a:pPr algn="ctr"/>
              <a:t>23</a:t>
            </a:fld>
            <a:endParaRPr lang="de-DE" sz="1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Vorlage">
  <a:themeElements>
    <a:clrScheme name="Larissa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-Desig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rissa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PPT-Vorlage</Template>
  <TotalTime>0</TotalTime>
  <Words>1469</Words>
  <Application>Microsoft Office PowerPoint</Application>
  <PresentationFormat>Bildschirmpräsentation (4:3)</PresentationFormat>
  <Paragraphs>137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6" baseType="lpstr">
      <vt:lpstr>Arial</vt:lpstr>
      <vt:lpstr>Verdana</vt:lpstr>
      <vt:lpstr>PPT-Vorlage</vt:lpstr>
      <vt:lpstr>Titelauswahl mit Hilfe von digitalisierten Inhaltverzeichnissen </vt:lpstr>
      <vt:lpstr>Inhaltsverzeichnis</vt:lpstr>
      <vt:lpstr>1.Ausgangssituation </vt:lpstr>
      <vt:lpstr>1.1 Warum haben wir uns mit dem Thema beschäftigt? </vt:lpstr>
      <vt:lpstr>1.2 Warum haben wir uns für die Inhaltsverzeichnisse entschieden? </vt:lpstr>
      <vt:lpstr>2. Arbeitsprozess </vt:lpstr>
      <vt:lpstr>2.1 Gewichtung der Stichworte </vt:lpstr>
      <vt:lpstr>PowerPoint-Präsentation</vt:lpstr>
      <vt:lpstr>2.2 Auswertung der ersten Ergebnismengen </vt:lpstr>
      <vt:lpstr> </vt:lpstr>
      <vt:lpstr>2.3 Einbindung von KI zur Unterstützung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3. InhaltsVZ-Tool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Deutsche Nationalbibliothek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Titelauswahl mit Hilfe von digitalisierten Inhaltverzeichnissen</dc:title>
  <dc:creator>Sickert, Isabell</dc:creator>
  <cp:lastModifiedBy>Sickert, Isabell</cp:lastModifiedBy>
  <cp:revision>22</cp:revision>
  <dcterms:created xsi:type="dcterms:W3CDTF">2026-08-13T05:10:52Z</dcterms:created>
  <dcterms:modified xsi:type="dcterms:W3CDTF">2026-08-18T10:53:09Z</dcterms:modified>
</cp:coreProperties>
</file>